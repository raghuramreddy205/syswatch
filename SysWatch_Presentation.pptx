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fbe9d4f-1261-13ad-5f1a-c438c7df2e5f}">
          <p14:sldIdLst>
            <p14:sldId id="256"/>
            <p14:sldId id="257"/>
            <p14:sldId id="258"/>
          </p14:sldIdLst>
        </p14:section>
        <p14:section name="Design and build" id="{a739c821-7fe7-4636-7a13-5f20fc2b6d49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Evaluation" id="{57298163-dcbc-1e4d-30e4-787feef5c45d}">
          <p14:sldIdLst>
            <p14:sldId id="265"/>
            <p14:sldId id="266"/>
            <p14:sldId id="267"/>
          </p14:sldIdLst>
        </p14:section>
        <p14:section name="Wrap-up" id="{4ba518f2-a251-5601-d71f-7c6121f6e7a7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+mn-lt"/>
              </a:rPr>
              <a:t>Time to detect (seconds)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spPr>
            <a:solidFill>
              <a:srgbClr val="35E0F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Sampling interval</c:v>
                  </c:pt>
                  <c:pt idx="1">
                    <c:v>Memory alert</c:v>
                  </c:pt>
                  <c:pt idx="2">
                    <c:v>CPU alert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2.5</c:v>
                </c:pt>
                <c:pt idx="2">
                  <c:v>3.6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9B8D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5"/>
          <c:min val="0"/>
        </c:scaling>
        <c:delete val="0"/>
        <c:axPos val="b"/>
        <c:majorGridlines>
          <c:spPr>
            <a:ln w="9525" cap="flat">
              <a:solidFill>
                <a:srgbClr val="16223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9B8D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faculty guide. SysWatch is a web-based system resource monitor that raises alerts when CPU, memory, disk or process usage crosses a threshold. It runs on the host machine and adapts to whatever system it is installed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Systems fail slowly and silently. Task Manager / top only show numbers if someone is looking. We want the system to tell the administrator, not the other way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goals taken straight from the project brief: track the four resource types, alert on thresholds, adapt to the host, and require login with credentials stored on the host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diagram as a loop. Top row: the host is sampled every two seconds and evaluated against thresholds. Bottom row, right to left: alerts and settings live in SQLite, Flask serves them over an authenticated REST API, and the browser renders them as gauges, charts and a 3D scene.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small tables. The alert engine is the core idea: severity is based on how far past the threshold a value is, and the cooldown stops the log from flooding while a problem persists.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built bottom-up: first the data collection, then alerting, then accounts, then the API, and finally the interface. Each stage was testable on its own before the next was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'runs on another system' requirement. Nothing about the machine is hard-coded. On startup the server asks the OS what it has, and the interface only shows what exists. Verified on Linux; the Windows and macOS branches follow psutil and Python platform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3D object is bound to a real metric, so the scene is a live visualization, not decoration. Parallax comes from three star layers moving at different speeds with the mouse, plus a camera that flies through the scene as you scroll.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is open source and installs with pip. The only runtime dependencies are Flask and psutil.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 automated checks plus a browser run. Importantly, alerts were tested with real load: busy-loop processes for CPU and a real memory allocation, not mocked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numbers measured on the test bed. 27 of 27 checks pass. The first full run had two failing checks which were caused by the test itself: memory was 6 percent and the lowest allowed threshold is 10 percent. After allocating real memory in the test, both passed. Alerts arrive within about one sampling interval plus network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live gauges and the alert banner during a CPU stress run. The core glows amber and the scene tints red. Right: the CPU history chart shows the spike we generated and the dashed line is the CPU threshold. Bottom: alert log and editable thresholds.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impact for three audiences: the person running the machine, the team or institution, and learners. Be honest that this is a lightweight tool, not a replacement for enterprise monitoring.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Summarize: all requirements met. Then be upfront about limits: it was verified on Linux, runs on Flask's development server, and needs HTTPS and a production server for internet exposure. Future scope is realistic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Offer to run the live demo: open the app, register, show the dashboard and trigger an alert by lowering a threshold.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600200"/>
            <a:ext cx="6400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2926080"/>
            <a:ext cx="60350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SysWatch  |  System Resource Alert &amp; Notification System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6002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SysWatch</a:t>
            </a:r>
            <a:endParaRPr lang="en-US" sz="5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292608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System Resource Alert &amp; Notification System: a 3D interactive monitor for CPU, memory, disk and process usage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892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TEAM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2120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2520090024  S. Raghuram Reddy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2520090045  M. Prem Manikanta Reddy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2520090025  D. Nikhil Krishna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4892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FACULTY GUIDE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5212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 Alekhya</a:t>
            </a:r>
            <a:endParaRPr lang="en-US" sz="1500" dirty="0"/>
          </a:p>
        </p:txBody>
      </p:sp>
      <p:pic>
        <p:nvPicPr>
          <p:cNvPr id="8" name="Image 0" descr="SysWatch dashboard showing CPU, memory and disk gauges over a 3D sce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417320"/>
            <a:ext cx="4526280" cy="254569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pic>
        <p:nvPicPr>
          <p:cNvPr id="9" name="Image 1" descr="SysWatch login p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3749040"/>
            <a:ext cx="3611880" cy="2031797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Resource exhaustion rarely announces itself. By the time a server freezes or a disk fills, users are already affected.</a:t>
            </a:r>
            <a:endParaRPr lang="en-US" sz="2000" dirty="0"/>
          </a:p>
        </p:txBody>
      </p:sp>
      <p:sp>
        <p:nvSpPr>
          <p:cNvPr id="5" name="Problem card 1"/>
          <p:cNvSpPr/>
          <p:nvPr/>
        </p:nvSpPr>
        <p:spPr>
          <a:xfrm>
            <a:off x="640080" y="2331720"/>
            <a:ext cx="2606040" cy="324612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6" name="Icon circle"/>
          <p:cNvSpPr/>
          <p:nvPr/>
        </p:nvSpPr>
        <p:spPr>
          <a:xfrm>
            <a:off x="914400" y="2651760"/>
            <a:ext cx="731520" cy="73152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7" name="Image 0" descr="EyeSlash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8346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Nobody is watching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40690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Built-in tools such as Task Manager or top only help while someone has them open. Overload at 3 AM goes unnoticed.</a:t>
            </a:r>
            <a:endParaRPr lang="en-US" sz="1400" dirty="0"/>
          </a:p>
        </p:txBody>
      </p:sp>
      <p:sp>
        <p:nvSpPr>
          <p:cNvPr id="10" name="Problem card 2"/>
          <p:cNvSpPr/>
          <p:nvPr/>
        </p:nvSpPr>
        <p:spPr>
          <a:xfrm>
            <a:off x="3429000" y="2331720"/>
            <a:ext cx="2606040" cy="324612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11" name="Icon circle"/>
          <p:cNvSpPr/>
          <p:nvPr/>
        </p:nvSpPr>
        <p:spPr>
          <a:xfrm>
            <a:off x="3703320" y="2651760"/>
            <a:ext cx="731520" cy="73152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12" name="Image 1" descr="BellSlash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83464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703320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No early warning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3703320" y="40690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Raw numbers are shown without limits. There is no alert when CPU, memory or disk crosses a safe level.</a:t>
            </a:r>
            <a:endParaRPr lang="en-US" sz="1400" dirty="0"/>
          </a:p>
        </p:txBody>
      </p:sp>
      <p:sp>
        <p:nvSpPr>
          <p:cNvPr id="15" name="Problem card 3"/>
          <p:cNvSpPr/>
          <p:nvPr/>
        </p:nvSpPr>
        <p:spPr>
          <a:xfrm>
            <a:off x="6217920" y="2331720"/>
            <a:ext cx="2606040" cy="324612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16" name="Icon circle"/>
          <p:cNvSpPr/>
          <p:nvPr/>
        </p:nvSpPr>
        <p:spPr>
          <a:xfrm>
            <a:off x="6492240" y="2651760"/>
            <a:ext cx="731520" cy="73152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3"/>
            </a:solidFill>
            <a:prstDash val="solid"/>
          </a:ln>
        </p:spPr>
      </p:sp>
      <p:pic>
        <p:nvPicPr>
          <p:cNvPr id="17" name="Image 2" descr="Desktop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83464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492240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Tied to one OS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6492240" y="40690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Each operating system has different tools and different views, so monitoring is inconsistent across machines.</a:t>
            </a:r>
            <a:endParaRPr lang="en-US" sz="1400" dirty="0"/>
          </a:p>
        </p:txBody>
      </p:sp>
      <p:sp>
        <p:nvSpPr>
          <p:cNvPr id="20" name="Problem card 4"/>
          <p:cNvSpPr/>
          <p:nvPr/>
        </p:nvSpPr>
        <p:spPr>
          <a:xfrm>
            <a:off x="9006840" y="2331720"/>
            <a:ext cx="2606040" cy="324612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21" name="Icon circle"/>
          <p:cNvSpPr/>
          <p:nvPr/>
        </p:nvSpPr>
        <p:spPr>
          <a:xfrm>
            <a:off x="9281160" y="2651760"/>
            <a:ext cx="731520" cy="73152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4"/>
            </a:solidFill>
            <a:prstDash val="solid"/>
          </a:ln>
        </p:spPr>
      </p:sp>
      <p:pic>
        <p:nvPicPr>
          <p:cNvPr id="22" name="Image 3" descr="WeightHanging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283464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281160" y="3566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Heavy alternatives</a:t>
            </a:r>
            <a:endParaRPr lang="en-US" sz="2000" dirty="0"/>
          </a:p>
        </p:txBody>
      </p:sp>
      <p:sp>
        <p:nvSpPr>
          <p:cNvPr id="24" name="Text 17"/>
          <p:cNvSpPr txBox="1"/>
          <p:nvPr/>
        </p:nvSpPr>
        <p:spPr>
          <a:xfrm>
            <a:off x="9281160" y="406908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Enterprise monitoring suites need agents, servers and licences. That is too much for a lab, a lab PC or a small team.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Our answer: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lightweight monitor that watches the host continuously, alerts the moment a threshold is crossed, and works on any machine it is installed 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 and scope</a:t>
            </a:r>
            <a:endParaRPr lang="en-US" sz="3600" dirty="0"/>
          </a:p>
        </p:txBody>
      </p:sp>
      <p:sp>
        <p:nvSpPr>
          <p:cNvPr id="4" name="Objective card 1"/>
          <p:cNvSpPr/>
          <p:nvPr/>
        </p:nvSpPr>
        <p:spPr>
          <a:xfrm>
            <a:off x="640080" y="1508760"/>
            <a:ext cx="53492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960120" y="1874520"/>
            <a:ext cx="914400" cy="9144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6" name="Image 0" descr="ChartLin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103120"/>
            <a:ext cx="457200" cy="457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194560" y="1874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Monitor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2194560" y="237744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Track CPU (total and per core), memory and swap, every disk partition, and running processes in real time.</a:t>
            </a:r>
            <a:endParaRPr lang="en-US" sz="1500" dirty="0"/>
          </a:p>
        </p:txBody>
      </p:sp>
      <p:sp>
        <p:nvSpPr>
          <p:cNvPr id="9" name="Objective card 2"/>
          <p:cNvSpPr/>
          <p:nvPr/>
        </p:nvSpPr>
        <p:spPr>
          <a:xfrm>
            <a:off x="6172200" y="1508760"/>
            <a:ext cx="53492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6492240" y="1874520"/>
            <a:ext cx="914400" cy="9144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11" name="Image 1" descr="Bell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0312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726680" y="1874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Alert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7726680" y="237744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Generate warning and critical alerts when user-defined thresholds are exceeded, then log them and notify instantly.</a:t>
            </a:r>
            <a:endParaRPr lang="en-US" sz="1500" dirty="0"/>
          </a:p>
        </p:txBody>
      </p:sp>
      <p:sp>
        <p:nvSpPr>
          <p:cNvPr id="14" name="Objective card 3"/>
          <p:cNvSpPr/>
          <p:nvPr/>
        </p:nvSpPr>
        <p:spPr>
          <a:xfrm>
            <a:off x="640080" y="3840480"/>
            <a:ext cx="53492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960120" y="4206240"/>
            <a:ext cx="914400" cy="9144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3"/>
            </a:solidFill>
            <a:prstDash val="solid"/>
          </a:ln>
        </p:spPr>
      </p:sp>
      <p:pic>
        <p:nvPicPr>
          <p:cNvPr id="16" name="Image 2" descr="Server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43484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194560" y="4206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Adapt to the host</a:t>
            </a:r>
            <a:endParaRPr lang="en-US" sz="2200" dirty="0"/>
          </a:p>
        </p:txBody>
      </p:sp>
      <p:sp>
        <p:nvSpPr>
          <p:cNvPr id="18" name="Text 12"/>
          <p:cNvSpPr txBox="1"/>
          <p:nvPr/>
        </p:nvSpPr>
        <p:spPr>
          <a:xfrm>
            <a:off x="2194560" y="470916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When deployed on another machine, show that machine's own OS, hardware, cores, disks and sensors automatically.</a:t>
            </a:r>
            <a:endParaRPr lang="en-US" sz="1500" dirty="0"/>
          </a:p>
        </p:txBody>
      </p:sp>
      <p:sp>
        <p:nvSpPr>
          <p:cNvPr id="19" name="Objective card 4"/>
          <p:cNvSpPr/>
          <p:nvPr/>
        </p:nvSpPr>
        <p:spPr>
          <a:xfrm>
            <a:off x="6172200" y="3840480"/>
            <a:ext cx="53492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6492240" y="4206240"/>
            <a:ext cx="914400" cy="9144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4"/>
            </a:solidFill>
            <a:prstDash val="solid"/>
          </a:ln>
        </p:spPr>
      </p:sp>
      <p:pic>
        <p:nvPicPr>
          <p:cNvPr id="21" name="Image 3" descr="Lo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43484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726680" y="4206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Secure access</a:t>
            </a:r>
            <a:endParaRPr lang="en-US" sz="2200" dirty="0"/>
          </a:p>
        </p:txBody>
      </p:sp>
      <p:sp>
        <p:nvSpPr>
          <p:cNvPr id="23" name="Text 16"/>
          <p:cNvSpPr txBox="1"/>
          <p:nvPr/>
        </p:nvSpPr>
        <p:spPr>
          <a:xfrm>
            <a:off x="7726680" y="470916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A login page protects the dashboard. Accounts are stored in the host's own database with salted password hashes.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Plus: an interactive 3D parallax interface so the machine's health can be felt at a glance, not just read.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design: architecture</a:t>
            </a:r>
            <a:endParaRPr lang="en-US" sz="3600" dirty="0"/>
          </a:p>
        </p:txBody>
      </p:sp>
      <p:sp>
        <p:nvSpPr>
          <p:cNvPr id="4" name="Host box"/>
          <p:cNvSpPr/>
          <p:nvPr/>
        </p:nvSpPr>
        <p:spPr>
          <a:xfrm>
            <a:off x="640080" y="1554480"/>
            <a:ext cx="3291840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7190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  Host machine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21408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Any OS: Windows, macOS, Linux. CPU, RAM, disks, processes, network, sensors read through psutil.</a:t>
            </a:r>
            <a:endParaRPr lang="en-US" sz="1400" dirty="0"/>
          </a:p>
        </p:txBody>
      </p:sp>
      <p:sp>
        <p:nvSpPr>
          <p:cNvPr id="7" name="Sampler box"/>
          <p:cNvSpPr/>
          <p:nvPr/>
        </p:nvSpPr>
        <p:spPr>
          <a:xfrm>
            <a:off x="4434840" y="1554480"/>
            <a:ext cx="3291840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617720" y="17190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2  Sampler thread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617720" y="2121408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Background thread takes a snapshot every 2 seconds and keeps the last 60 points for the live chart.</a:t>
            </a:r>
            <a:endParaRPr lang="en-US" sz="1400" dirty="0"/>
          </a:p>
        </p:txBody>
      </p:sp>
      <p:sp>
        <p:nvSpPr>
          <p:cNvPr id="10" name="Alert engine box"/>
          <p:cNvSpPr/>
          <p:nvPr/>
        </p:nvSpPr>
        <p:spPr>
          <a:xfrm>
            <a:off x="8229600" y="1554480"/>
            <a:ext cx="3291840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12480" y="17190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3  Alert engine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2121408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Compares each metric with its threshold, sets severity, applies a 60 s cooldown, logs recovery.</a:t>
            </a:r>
            <a:endParaRPr lang="en-US" sz="1400" dirty="0"/>
          </a:p>
        </p:txBody>
      </p:sp>
      <p:sp>
        <p:nvSpPr>
          <p:cNvPr id="13" name="Database box"/>
          <p:cNvSpPr/>
          <p:nvPr/>
        </p:nvSpPr>
        <p:spPr>
          <a:xfrm>
            <a:off x="8229600" y="4206240"/>
            <a:ext cx="3291840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12480" y="43708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4  SQLite database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4773168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monitor.db on the host: users (hashed passwords), alerts log, threshold settings.</a:t>
            </a:r>
            <a:endParaRPr lang="en-US" sz="1400" dirty="0"/>
          </a:p>
        </p:txBody>
      </p:sp>
      <p:sp>
        <p:nvSpPr>
          <p:cNvPr id="16" name="API box"/>
          <p:cNvSpPr/>
          <p:nvPr/>
        </p:nvSpPr>
        <p:spPr>
          <a:xfrm>
            <a:off x="4434840" y="4206240"/>
            <a:ext cx="3291840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17720" y="43708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5  Flask REST API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4617720" y="4773168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Session-cookie login. /api/system, /api/metrics, /api/thresholds and more. All data routes need login.</a:t>
            </a:r>
            <a:endParaRPr lang="en-US" sz="1400" dirty="0"/>
          </a:p>
        </p:txBody>
      </p:sp>
      <p:sp>
        <p:nvSpPr>
          <p:cNvPr id="19" name="Browser box"/>
          <p:cNvSpPr/>
          <p:nvPr/>
        </p:nvSpPr>
        <p:spPr>
          <a:xfrm>
            <a:off x="640080" y="4206240"/>
            <a:ext cx="3291840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43708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6  Browser UI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773168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Login page, Three.js 3D scene, live dashboard, toasts, optional sound and desktop notifications.</a:t>
            </a:r>
            <a:endParaRPr lang="en-US" sz="1400" dirty="0"/>
          </a:p>
        </p:txBody>
      </p:sp>
      <p:sp>
        <p:nvSpPr>
          <p:cNvPr id="22" name="Arrow"/>
          <p:cNvSpPr/>
          <p:nvPr/>
        </p:nvSpPr>
        <p:spPr>
          <a:xfrm>
            <a:off x="3931920" y="2423160"/>
            <a:ext cx="502920" cy="0"/>
          </a:xfrm>
          <a:prstGeom prst="line">
            <a:avLst/>
          </a:prstGeom>
          <a:noFill/>
          <a:ln w="2540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23" name="Arrow"/>
          <p:cNvSpPr/>
          <p:nvPr/>
        </p:nvSpPr>
        <p:spPr>
          <a:xfrm>
            <a:off x="7726680" y="2423160"/>
            <a:ext cx="502920" cy="0"/>
          </a:xfrm>
          <a:prstGeom prst="line">
            <a:avLst/>
          </a:prstGeom>
          <a:noFill/>
          <a:ln w="2540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24" name="Arrow"/>
          <p:cNvSpPr/>
          <p:nvPr/>
        </p:nvSpPr>
        <p:spPr>
          <a:xfrm>
            <a:off x="9875520" y="3291840"/>
            <a:ext cx="0" cy="914400"/>
          </a:xfrm>
          <a:prstGeom prst="line">
            <a:avLst/>
          </a:prstGeom>
          <a:noFill/>
          <a:ln w="2540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25" name="Arrow"/>
          <p:cNvSpPr/>
          <p:nvPr/>
        </p:nvSpPr>
        <p:spPr>
          <a:xfrm flipH="1">
            <a:off x="7726680" y="5074920"/>
            <a:ext cx="502920" cy="0"/>
          </a:xfrm>
          <a:prstGeom prst="line">
            <a:avLst/>
          </a:prstGeom>
          <a:noFill/>
          <a:ln w="2540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26" name="Arrow"/>
          <p:cNvSpPr/>
          <p:nvPr/>
        </p:nvSpPr>
        <p:spPr>
          <a:xfrm flipH="1">
            <a:off x="3931920" y="5074920"/>
            <a:ext cx="502920" cy="0"/>
          </a:xfrm>
          <a:prstGeom prst="line">
            <a:avLst/>
          </a:prstGeom>
          <a:noFill/>
          <a:ln w="2540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27" name="Text 24"/>
          <p:cNvSpPr txBox="1"/>
          <p:nvPr/>
        </p:nvSpPr>
        <p:spPr>
          <a:xfrm>
            <a:off x="10012680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alerts stored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JSON over HTTP, polled every 2 s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4937760" y="60807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live snapshot is read from memory, history from the DB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design: data model and alert logic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DATABASE TABLES</a:t>
            </a:r>
            <a:endParaRPr lang="en-US" sz="1200" dirty="0"/>
          </a:p>
        </p:txBody>
      </p:sp>
      <p:sp>
        <p:nvSpPr>
          <p:cNvPr id="5" name="Table card 1"/>
          <p:cNvSpPr/>
          <p:nvPr/>
        </p:nvSpPr>
        <p:spPr>
          <a:xfrm>
            <a:off x="640080" y="1737360"/>
            <a:ext cx="475488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86537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2128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id, username (unique), password_hash, created_at, last_login</a:t>
            </a:r>
            <a:endParaRPr lang="en-US" sz="1300" dirty="0"/>
          </a:p>
        </p:txBody>
      </p:sp>
      <p:sp>
        <p:nvSpPr>
          <p:cNvPr id="8" name="Table card 2"/>
          <p:cNvSpPr/>
          <p:nvPr/>
        </p:nvSpPr>
        <p:spPr>
          <a:xfrm>
            <a:off x="640080" y="2834640"/>
            <a:ext cx="475488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96265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3101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id, ts, level, metric, value, threshold, message (latest 500 kept)</a:t>
            </a:r>
            <a:endParaRPr lang="en-US" sz="1300" dirty="0"/>
          </a:p>
        </p:txBody>
      </p:sp>
      <p:sp>
        <p:nvSpPr>
          <p:cNvPr id="11" name="Table card 3"/>
          <p:cNvSpPr/>
          <p:nvPr/>
        </p:nvSpPr>
        <p:spPr>
          <a:xfrm>
            <a:off x="640080" y="3931920"/>
            <a:ext cx="475488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405993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4074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key, value: six thresholds and the session secret key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WHAT IS CHECKED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54406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Total CPU  |  Memory  |  every disk partition  |  process count  |  busiest process by CPU  |  busiest process by memory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ALERT PIPELINE</a:t>
            </a:r>
            <a:endParaRPr lang="en-US" sz="1200" dirty="0"/>
          </a:p>
        </p:txBody>
      </p:sp>
      <p:sp>
        <p:nvSpPr>
          <p:cNvPr id="17" name="Step number"/>
          <p:cNvSpPr/>
          <p:nvPr/>
        </p:nvSpPr>
        <p:spPr>
          <a:xfrm>
            <a:off x="594360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675120" y="17556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Sample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549640" y="17556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psutil snapshot every 2 s</a:t>
            </a:r>
            <a:endParaRPr lang="en-US" sz="1400" dirty="0"/>
          </a:p>
        </p:txBody>
      </p:sp>
      <p:sp>
        <p:nvSpPr>
          <p:cNvPr id="21" name="Step number"/>
          <p:cNvSpPr/>
          <p:nvPr/>
        </p:nvSpPr>
        <p:spPr>
          <a:xfrm>
            <a:off x="5943600" y="2514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94360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675120" y="24871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Compare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8549640" y="248716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value &gt;= threshold ?</a:t>
            </a:r>
            <a:endParaRPr lang="en-US" sz="1400" dirty="0"/>
          </a:p>
        </p:txBody>
      </p:sp>
      <p:sp>
        <p:nvSpPr>
          <p:cNvPr id="25" name="Step number"/>
          <p:cNvSpPr/>
          <p:nvPr/>
        </p:nvSpPr>
        <p:spPr>
          <a:xfrm>
            <a:off x="5943600" y="32461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94360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675120" y="32186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Severity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8549640" y="32186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warning, or critical past the midpoint to 100%</a:t>
            </a:r>
            <a:endParaRPr lang="en-US" sz="1400" dirty="0"/>
          </a:p>
        </p:txBody>
      </p:sp>
      <p:sp>
        <p:nvSpPr>
          <p:cNvPr id="29" name="Step number"/>
          <p:cNvSpPr/>
          <p:nvPr/>
        </p:nvSpPr>
        <p:spPr>
          <a:xfrm>
            <a:off x="5943600" y="3977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94360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675120" y="39502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Cooldown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8549640" y="39502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same alert at most once per 60 s</a:t>
            </a:r>
            <a:endParaRPr lang="en-US" sz="1400" dirty="0"/>
          </a:p>
        </p:txBody>
      </p:sp>
      <p:sp>
        <p:nvSpPr>
          <p:cNvPr id="33" name="Step number"/>
          <p:cNvSpPr/>
          <p:nvPr/>
        </p:nvSpPr>
        <p:spPr>
          <a:xfrm>
            <a:off x="5943600" y="4709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94360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6675120" y="46817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Notify and log</a:t>
            </a:r>
            <a:endParaRPr lang="en-US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8549640" y="46817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DB row, banner, toast, 3D scene turns red</a:t>
            </a:r>
            <a:endParaRPr lang="en-US" sz="1400" dirty="0"/>
          </a:p>
        </p:txBody>
      </p:sp>
      <p:sp>
        <p:nvSpPr>
          <p:cNvPr id="37" name="Step number"/>
          <p:cNvSpPr/>
          <p:nvPr/>
        </p:nvSpPr>
        <p:spPr>
          <a:xfrm>
            <a:off x="5943600" y="54406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943600" y="5440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6675120" y="54132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Recover</a:t>
            </a:r>
            <a:endParaRPr lang="en-US" sz="1700" dirty="0"/>
          </a:p>
        </p:txBody>
      </p:sp>
      <p:sp>
        <p:nvSpPr>
          <p:cNvPr id="40" name="Text 37"/>
          <p:cNvSpPr txBox="1"/>
          <p:nvPr/>
        </p:nvSpPr>
        <p:spPr>
          <a:xfrm>
            <a:off x="8549640" y="54132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info entry when value drops back below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5943600" y="61722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Example: with CPU limit 85%, a reading of 89% is a warning; 93% or higher is critical.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approach</a:t>
            </a:r>
            <a:endParaRPr lang="en-US" sz="3600" dirty="0"/>
          </a:p>
        </p:txBody>
      </p:sp>
      <p:sp>
        <p:nvSpPr>
          <p:cNvPr id="4" name="Stage card 1"/>
          <p:cNvSpPr/>
          <p:nvPr/>
        </p:nvSpPr>
        <p:spPr>
          <a:xfrm>
            <a:off x="640080" y="1554480"/>
            <a:ext cx="2103120" cy="365760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868680" y="1783080"/>
            <a:ext cx="685800" cy="6858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6" name="Image 0" descr="Microchi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1954530"/>
            <a:ext cx="342900" cy="3429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6868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STEP 1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2926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Collect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34290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psutil sampler thread reads CPU, memory, disks, processes and network, then primes counters so the first reading is accurate.</a:t>
            </a:r>
            <a:endParaRPr lang="en-US" sz="1300" dirty="0"/>
          </a:p>
        </p:txBody>
      </p:sp>
      <p:sp>
        <p:nvSpPr>
          <p:cNvPr id="10" name="Stage card 2"/>
          <p:cNvSpPr/>
          <p:nvPr/>
        </p:nvSpPr>
        <p:spPr>
          <a:xfrm>
            <a:off x="2889504" y="1554480"/>
            <a:ext cx="2103120" cy="365760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11" name="Icon circle"/>
          <p:cNvSpPr/>
          <p:nvPr/>
        </p:nvSpPr>
        <p:spPr>
          <a:xfrm>
            <a:off x="3118104" y="1783080"/>
            <a:ext cx="685800" cy="6858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12" name="Image 1" descr="Bell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554" y="1954530"/>
            <a:ext cx="342900" cy="3429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118104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STEP 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3118104" y="2926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Evaluate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3118104" y="34290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Alert engine applies thresholds, severity and cooldown. Alerts are written to SQLite.</a:t>
            </a:r>
            <a:endParaRPr lang="en-US" sz="1300" dirty="0"/>
          </a:p>
        </p:txBody>
      </p:sp>
      <p:sp>
        <p:nvSpPr>
          <p:cNvPr id="16" name="Stage card 3"/>
          <p:cNvSpPr/>
          <p:nvPr/>
        </p:nvSpPr>
        <p:spPr>
          <a:xfrm>
            <a:off x="5138928" y="1554480"/>
            <a:ext cx="2103120" cy="365760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17" name="Icon circle"/>
          <p:cNvSpPr/>
          <p:nvPr/>
        </p:nvSpPr>
        <p:spPr>
          <a:xfrm>
            <a:off x="5367528" y="1783080"/>
            <a:ext cx="685800" cy="6858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3"/>
            </a:solidFill>
            <a:prstDash val="solid"/>
          </a:ln>
        </p:spPr>
      </p:sp>
      <p:pic>
        <p:nvPicPr>
          <p:cNvPr id="18" name="Image 2" descr="UserLo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978" y="1954530"/>
            <a:ext cx="342900" cy="3429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367528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STEP 3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5367528" y="2926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Authenticate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5367528" y="34290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Register and login routes. Passwords hashed with PBKDF2-SHA256 and salt. Sessions via signed cookie.</a:t>
            </a:r>
            <a:endParaRPr lang="en-US" sz="1300" dirty="0"/>
          </a:p>
        </p:txBody>
      </p:sp>
      <p:sp>
        <p:nvSpPr>
          <p:cNvPr id="22" name="Stage card 4"/>
          <p:cNvSpPr/>
          <p:nvPr/>
        </p:nvSpPr>
        <p:spPr>
          <a:xfrm>
            <a:off x="7388352" y="1554480"/>
            <a:ext cx="2103120" cy="365760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23" name="Icon circle"/>
          <p:cNvSpPr/>
          <p:nvPr/>
        </p:nvSpPr>
        <p:spPr>
          <a:xfrm>
            <a:off x="7616952" y="1783080"/>
            <a:ext cx="685800" cy="6858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4"/>
            </a:solidFill>
            <a:prstDash val="solid"/>
          </a:ln>
        </p:spPr>
      </p:sp>
      <p:pic>
        <p:nvPicPr>
          <p:cNvPr id="24" name="Image 3" descr="Plug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8402" y="1954530"/>
            <a:ext cx="342900" cy="3429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616952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STEP 4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7616952" y="2926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Serve</a:t>
            </a:r>
            <a:endParaRPr lang="en-US" sz="2000" dirty="0"/>
          </a:p>
        </p:txBody>
      </p:sp>
      <p:sp>
        <p:nvSpPr>
          <p:cNvPr id="27" name="Text 20"/>
          <p:cNvSpPr txBox="1"/>
          <p:nvPr/>
        </p:nvSpPr>
        <p:spPr>
          <a:xfrm>
            <a:off x="7616952" y="34290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Flask JSON API. Input is validated, thresholds range-checked, data routes locked behind login.</a:t>
            </a:r>
            <a:endParaRPr lang="en-US" sz="1300" dirty="0"/>
          </a:p>
        </p:txBody>
      </p:sp>
      <p:sp>
        <p:nvSpPr>
          <p:cNvPr id="28" name="Stage card 5"/>
          <p:cNvSpPr/>
          <p:nvPr/>
        </p:nvSpPr>
        <p:spPr>
          <a:xfrm>
            <a:off x="9637776" y="1554480"/>
            <a:ext cx="2103120" cy="365760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29" name="Icon circle"/>
          <p:cNvSpPr/>
          <p:nvPr/>
        </p:nvSpPr>
        <p:spPr>
          <a:xfrm>
            <a:off x="9866376" y="1783080"/>
            <a:ext cx="685800" cy="6858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30" name="Image 4" descr="Cubes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7826" y="1954530"/>
            <a:ext cx="342900" cy="3429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866376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STEP 5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9866376" y="2926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Visualize</a:t>
            </a:r>
            <a:endParaRPr lang="en-US" sz="2000" dirty="0"/>
          </a:p>
        </p:txBody>
      </p:sp>
      <p:sp>
        <p:nvSpPr>
          <p:cNvPr id="33" name="Text 25"/>
          <p:cNvSpPr txBox="1"/>
          <p:nvPr/>
        </p:nvSpPr>
        <p:spPr>
          <a:xfrm>
            <a:off x="9866376" y="34290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Three.js scene plus dashboard. Mouse and scroll drive the parallax; metrics drive the 3D objects.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640080" y="54864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Key decisions: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single Python file for the backend, one self-contained HTML page for the UI, and Three.js bundled locally so it runs even without internet.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Adapts to whichever system it runs on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DETECTED ON STARTUP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73736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Hostname, OS name and version, kernel, architecture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CPU model, physical and logical cores, max clock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RAM size, swap or page file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Every mounted disk partition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IP addresses and network traffic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Signed-in users, uptime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9377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Each logical CPU core becomes one orbiting node in the 3D scene, so an 8-core laptop and a 64-core server look different.</a:t>
            </a:r>
            <a:endParaRPr lang="en-US" sz="1600" dirty="0"/>
          </a:p>
        </p:txBody>
      </p:sp>
      <p:graphicFrame>
        <p:nvGraphicFramePr>
          <p:cNvPr id="8" name="Platform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737360"/>
          <a:ext cx="5577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097280"/>
                <a:gridCol w="10972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Linux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CPU, memory, disk, processes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average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sensors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exposed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present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present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present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label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file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27432" marB="27432" anchor="ctr">
                    <a:lnL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943600" y="57607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The UI shows or hides each panel automatically. Tested on Ubuntu 24.04.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3D parallax interface</a:t>
            </a:r>
            <a:endParaRPr lang="en-US" sz="3600" dirty="0"/>
          </a:p>
        </p:txBody>
      </p:sp>
      <p:pic>
        <p:nvPicPr>
          <p:cNvPr id="4" name="Image 0" descr="SysWatch overview with glowing 3D core, memory ring and disk arc behind the metric gau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6675120" cy="3754526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5" name="Icon circle"/>
          <p:cNvSpPr/>
          <p:nvPr/>
        </p:nvSpPr>
        <p:spPr>
          <a:xfrm>
            <a:off x="7680960" y="1417320"/>
            <a:ext cx="640080" cy="64008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6" name="Image 1" descr="Microchip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0980" y="1577340"/>
            <a:ext cx="320040" cy="32004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8503920" y="1399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Glowing core</a:t>
            </a:r>
            <a:endParaRPr lang="en-US" sz="1700" dirty="0"/>
          </a:p>
        </p:txBody>
      </p:sp>
      <p:sp>
        <p:nvSpPr>
          <p:cNvPr id="8" name="Text 3"/>
          <p:cNvSpPr txBox="1"/>
          <p:nvPr/>
        </p:nvSpPr>
        <p:spPr>
          <a:xfrm>
            <a:off x="8503920" y="1737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CPU load: spins faster and shifts cyan to amber to red</a:t>
            </a:r>
            <a:endParaRPr lang="en-US" sz="1300" dirty="0"/>
          </a:p>
        </p:txBody>
      </p:sp>
      <p:sp>
        <p:nvSpPr>
          <p:cNvPr id="9" name="Icon circle"/>
          <p:cNvSpPr/>
          <p:nvPr/>
        </p:nvSpPr>
        <p:spPr>
          <a:xfrm>
            <a:off x="7680960" y="2423160"/>
            <a:ext cx="640080" cy="64008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10" name="Image 2" descr="CircleNotch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0" y="2583180"/>
            <a:ext cx="320040" cy="32004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503920" y="24048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Orbiting nodes</a:t>
            </a:r>
            <a:endParaRPr lang="en-US" sz="1700" dirty="0"/>
          </a:p>
        </p:txBody>
      </p:sp>
      <p:sp>
        <p:nvSpPr>
          <p:cNvPr id="12" name="Text 6"/>
          <p:cNvSpPr txBox="1"/>
          <p:nvPr/>
        </p:nvSpPr>
        <p:spPr>
          <a:xfrm>
            <a:off x="850392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One per CPU core, sized by that core's usage</a:t>
            </a:r>
            <a:endParaRPr lang="en-US" sz="1300" dirty="0"/>
          </a:p>
        </p:txBody>
      </p:sp>
      <p:sp>
        <p:nvSpPr>
          <p:cNvPr id="13" name="Icon circle"/>
          <p:cNvSpPr/>
          <p:nvPr/>
        </p:nvSpPr>
        <p:spPr>
          <a:xfrm>
            <a:off x="7680960" y="3429000"/>
            <a:ext cx="640080" cy="64008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3"/>
            </a:solidFill>
            <a:prstDash val="solid"/>
          </a:ln>
        </p:spPr>
      </p:sp>
      <p:pic>
        <p:nvPicPr>
          <p:cNvPr id="14" name="Image 3" descr="Memory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980" y="3589020"/>
            <a:ext cx="320040" cy="32004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8503920" y="3410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Dotted ring</a:t>
            </a:r>
            <a:endParaRPr lang="en-US" sz="1700" dirty="0"/>
          </a:p>
        </p:txBody>
      </p:sp>
      <p:sp>
        <p:nvSpPr>
          <p:cNvPr id="16" name="Text 9"/>
          <p:cNvSpPr txBox="1"/>
          <p:nvPr/>
        </p:nvSpPr>
        <p:spPr>
          <a:xfrm>
            <a:off x="8503920" y="3749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Memory: fraction of dots lit equals RAM used</a:t>
            </a:r>
            <a:endParaRPr lang="en-US" sz="1300" dirty="0"/>
          </a:p>
        </p:txBody>
      </p:sp>
      <p:sp>
        <p:nvSpPr>
          <p:cNvPr id="17" name="Icon circle"/>
          <p:cNvSpPr/>
          <p:nvPr/>
        </p:nvSpPr>
        <p:spPr>
          <a:xfrm>
            <a:off x="7680960" y="4434840"/>
            <a:ext cx="640080" cy="64008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4"/>
            </a:solidFill>
            <a:prstDash val="solid"/>
          </a:ln>
        </p:spPr>
      </p:sp>
      <p:pic>
        <p:nvPicPr>
          <p:cNvPr id="18" name="Image 4" descr="Hdd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980" y="4594860"/>
            <a:ext cx="320040" cy="32004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8503920" y="44165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Outer arc</a:t>
            </a:r>
            <a:endParaRPr lang="en-US" sz="1700" dirty="0"/>
          </a:p>
        </p:txBody>
      </p:sp>
      <p:sp>
        <p:nvSpPr>
          <p:cNvPr id="20" name="Text 12"/>
          <p:cNvSpPr txBox="1"/>
          <p:nvPr/>
        </p:nvSpPr>
        <p:spPr>
          <a:xfrm>
            <a:off x="8503920" y="4754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Disk: arc length equals fullest partition</a:t>
            </a:r>
            <a:endParaRPr lang="en-US" sz="1300" dirty="0"/>
          </a:p>
        </p:txBody>
      </p:sp>
      <p:sp>
        <p:nvSpPr>
          <p:cNvPr id="21" name="Text 13"/>
          <p:cNvSpPr txBox="1"/>
          <p:nvPr/>
        </p:nvSpPr>
        <p:spPr>
          <a:xfrm>
            <a:off x="640080" y="5440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Whole scene tints red while any alert is active. Mouse, scroll and card tilt create the depth effect.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3600" dirty="0"/>
          </a:p>
        </p:txBody>
      </p:sp>
      <p:sp>
        <p:nvSpPr>
          <p:cNvPr id="4" name="Tech card 1"/>
          <p:cNvSpPr/>
          <p:nvPr/>
        </p:nvSpPr>
        <p:spPr>
          <a:xfrm>
            <a:off x="640080" y="155448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914400" y="1828800"/>
            <a:ext cx="685800" cy="6858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6" name="Image 0" descr="Pytho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00250"/>
            <a:ext cx="342900" cy="3429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1440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Python 3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914400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Backend language, threads for sampling</a:t>
            </a:r>
            <a:endParaRPr lang="en-US" sz="1300" dirty="0"/>
          </a:p>
        </p:txBody>
      </p:sp>
      <p:sp>
        <p:nvSpPr>
          <p:cNvPr id="9" name="Tech card 2"/>
          <p:cNvSpPr/>
          <p:nvPr/>
        </p:nvSpPr>
        <p:spPr>
          <a:xfrm>
            <a:off x="3429000" y="155448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3703320" y="1828800"/>
            <a:ext cx="685800" cy="6858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11" name="Image 1" descr="Flas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770" y="2000250"/>
            <a:ext cx="342900" cy="3429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70332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Flask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3703320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Web server, REST API, sessions</a:t>
            </a:r>
            <a:endParaRPr lang="en-US" sz="1300" dirty="0"/>
          </a:p>
        </p:txBody>
      </p:sp>
      <p:sp>
        <p:nvSpPr>
          <p:cNvPr id="14" name="Tech card 3"/>
          <p:cNvSpPr/>
          <p:nvPr/>
        </p:nvSpPr>
        <p:spPr>
          <a:xfrm>
            <a:off x="6217920" y="155448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6492240" y="1828800"/>
            <a:ext cx="685800" cy="6858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3"/>
            </a:solidFill>
            <a:prstDash val="solid"/>
          </a:ln>
        </p:spPr>
      </p:sp>
      <p:pic>
        <p:nvPicPr>
          <p:cNvPr id="16" name="Image 2" descr="Microchip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690" y="2000250"/>
            <a:ext cx="342900" cy="3429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49224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psutil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6492240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Cross-platform CPU, RAM, disk, process data</a:t>
            </a:r>
            <a:endParaRPr lang="en-US" sz="1300" dirty="0"/>
          </a:p>
        </p:txBody>
      </p:sp>
      <p:sp>
        <p:nvSpPr>
          <p:cNvPr id="19" name="Tech card 4"/>
          <p:cNvSpPr/>
          <p:nvPr/>
        </p:nvSpPr>
        <p:spPr>
          <a:xfrm>
            <a:off x="9006840" y="155448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9281160" y="1828800"/>
            <a:ext cx="685800" cy="6858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4"/>
            </a:solidFill>
            <a:prstDash val="solid"/>
          </a:ln>
        </p:spPr>
      </p:sp>
      <p:pic>
        <p:nvPicPr>
          <p:cNvPr id="21" name="Image 3" descr="Databas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2610" y="2000250"/>
            <a:ext cx="342900" cy="3429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28116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SQLite</a:t>
            </a:r>
            <a:endParaRPr lang="en-US" sz="1700" dirty="0"/>
          </a:p>
        </p:txBody>
      </p:sp>
      <p:sp>
        <p:nvSpPr>
          <p:cNvPr id="23" name="Text 16"/>
          <p:cNvSpPr txBox="1"/>
          <p:nvPr/>
        </p:nvSpPr>
        <p:spPr>
          <a:xfrm>
            <a:off x="9281160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Embedded database for users, alerts, settings</a:t>
            </a:r>
            <a:endParaRPr lang="en-US" sz="1300" dirty="0"/>
          </a:p>
        </p:txBody>
      </p:sp>
      <p:sp>
        <p:nvSpPr>
          <p:cNvPr id="24" name="Tech card 5"/>
          <p:cNvSpPr/>
          <p:nvPr/>
        </p:nvSpPr>
        <p:spPr>
          <a:xfrm>
            <a:off x="640080" y="388620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25" name="Icon circle"/>
          <p:cNvSpPr/>
          <p:nvPr/>
        </p:nvSpPr>
        <p:spPr>
          <a:xfrm>
            <a:off x="914400" y="4160520"/>
            <a:ext cx="685800" cy="6858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26" name="Image 4" descr="ShieldAl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850" y="4331970"/>
            <a:ext cx="342900" cy="3429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14400" y="4937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Werkzeug security</a:t>
            </a:r>
            <a:endParaRPr lang="en-US" sz="1700" dirty="0"/>
          </a:p>
        </p:txBody>
      </p:sp>
      <p:sp>
        <p:nvSpPr>
          <p:cNvPr id="28" name="Text 20"/>
          <p:cNvSpPr txBox="1"/>
          <p:nvPr/>
        </p:nvSpPr>
        <p:spPr>
          <a:xfrm>
            <a:off x="914400" y="5303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PBKDF2-SHA256 salted password hashing</a:t>
            </a:r>
            <a:endParaRPr lang="en-US" sz="1300" dirty="0"/>
          </a:p>
        </p:txBody>
      </p:sp>
      <p:sp>
        <p:nvSpPr>
          <p:cNvPr id="29" name="Tech card 6"/>
          <p:cNvSpPr/>
          <p:nvPr/>
        </p:nvSpPr>
        <p:spPr>
          <a:xfrm>
            <a:off x="3429000" y="388620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30" name="Icon circle"/>
          <p:cNvSpPr/>
          <p:nvPr/>
        </p:nvSpPr>
        <p:spPr>
          <a:xfrm>
            <a:off x="3703320" y="4160520"/>
            <a:ext cx="685800" cy="6858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31" name="Image 5" descr="Cube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4770" y="4331970"/>
            <a:ext cx="342900" cy="34290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3703320" y="4937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Three.js (WebGL)</a:t>
            </a:r>
            <a:endParaRPr lang="en-US" sz="1700" dirty="0"/>
          </a:p>
        </p:txBody>
      </p:sp>
      <p:sp>
        <p:nvSpPr>
          <p:cNvPr id="33" name="Text 24"/>
          <p:cNvSpPr txBox="1"/>
          <p:nvPr/>
        </p:nvSpPr>
        <p:spPr>
          <a:xfrm>
            <a:off x="3703320" y="5303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3D scene, particles, parallax camera</a:t>
            </a:r>
            <a:endParaRPr lang="en-US" sz="1300" dirty="0"/>
          </a:p>
        </p:txBody>
      </p:sp>
      <p:sp>
        <p:nvSpPr>
          <p:cNvPr id="34" name="Tech card 7"/>
          <p:cNvSpPr/>
          <p:nvPr/>
        </p:nvSpPr>
        <p:spPr>
          <a:xfrm>
            <a:off x="6217920" y="388620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35" name="Icon circle"/>
          <p:cNvSpPr/>
          <p:nvPr/>
        </p:nvSpPr>
        <p:spPr>
          <a:xfrm>
            <a:off x="6492240" y="4160520"/>
            <a:ext cx="685800" cy="6858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3"/>
            </a:solidFill>
            <a:prstDash val="solid"/>
          </a:ln>
        </p:spPr>
      </p:sp>
      <p:pic>
        <p:nvPicPr>
          <p:cNvPr id="36" name="Image 6" descr="Code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3690" y="4331970"/>
            <a:ext cx="342900" cy="34290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6492240" y="4937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HTML, CSS, JS</a:t>
            </a:r>
            <a:endParaRPr lang="en-US" sz="1700" dirty="0"/>
          </a:p>
        </p:txBody>
      </p:sp>
      <p:sp>
        <p:nvSpPr>
          <p:cNvPr id="38" name="Text 28"/>
          <p:cNvSpPr txBox="1"/>
          <p:nvPr/>
        </p:nvSpPr>
        <p:spPr>
          <a:xfrm>
            <a:off x="6492240" y="5303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Canvas charts, SVG gauges, glass UI</a:t>
            </a:r>
            <a:endParaRPr lang="en-US" sz="1300" dirty="0"/>
          </a:p>
        </p:txBody>
      </p:sp>
      <p:sp>
        <p:nvSpPr>
          <p:cNvPr id="39" name="Tech card 8"/>
          <p:cNvSpPr/>
          <p:nvPr/>
        </p:nvSpPr>
        <p:spPr>
          <a:xfrm>
            <a:off x="9006840" y="3886200"/>
            <a:ext cx="26060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40" name="Icon circle"/>
          <p:cNvSpPr/>
          <p:nvPr/>
        </p:nvSpPr>
        <p:spPr>
          <a:xfrm>
            <a:off x="9281160" y="4160520"/>
            <a:ext cx="685800" cy="6858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4"/>
            </a:solidFill>
            <a:prstDash val="solid"/>
          </a:ln>
        </p:spPr>
      </p:sp>
      <p:pic>
        <p:nvPicPr>
          <p:cNvPr id="41" name="Image 7" descr="Vial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2610" y="4331970"/>
            <a:ext cx="342900" cy="342900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9281160" y="4937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Playwright</a:t>
            </a:r>
            <a:endParaRPr lang="en-US" sz="1700" dirty="0"/>
          </a:p>
        </p:txBody>
      </p:sp>
      <p:sp>
        <p:nvSpPr>
          <p:cNvPr id="43" name="Text 32"/>
          <p:cNvSpPr txBox="1"/>
          <p:nvPr/>
        </p:nvSpPr>
        <p:spPr>
          <a:xfrm>
            <a:off x="9281160" y="53035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Browser and API test automation (with requests)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3600" dirty="0"/>
          </a:p>
        </p:txBody>
      </p:sp>
      <p:sp>
        <p:nvSpPr>
          <p:cNvPr id="4" name="Test row 1"/>
          <p:cNvSpPr/>
          <p:nvPr/>
        </p:nvSpPr>
        <p:spPr>
          <a:xfrm>
            <a:off x="640080" y="1463040"/>
            <a:ext cx="7498080" cy="841248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822960" y="1591056"/>
            <a:ext cx="585216" cy="585216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6" name="Image 0" descr="UserShiel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737360"/>
            <a:ext cx="292608" cy="29260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5544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Authentication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3383280" y="15544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Short or invalid usernames, weak passwords, duplicate accounts, wrong password, session persistence, logout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7040880" y="1554480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8 checks</a:t>
            </a:r>
            <a:endParaRPr lang="en-US" sz="1300" dirty="0"/>
          </a:p>
        </p:txBody>
      </p:sp>
      <p:sp>
        <p:nvSpPr>
          <p:cNvPr id="10" name="Test row 2"/>
          <p:cNvSpPr/>
          <p:nvPr/>
        </p:nvSpPr>
        <p:spPr>
          <a:xfrm>
            <a:off x="640080" y="2395728"/>
            <a:ext cx="7498080" cy="841248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11" name="Icon circle"/>
          <p:cNvSpPr/>
          <p:nvPr/>
        </p:nvSpPr>
        <p:spPr>
          <a:xfrm>
            <a:off x="822960" y="2523744"/>
            <a:ext cx="585216" cy="585216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12" name="Image 1" descr="Lo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2670048"/>
            <a:ext cx="292608" cy="29260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00200" y="248716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Security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3383280" y="248716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Hashed password in DB, data routes return 401 when signed out, bad thresholds rejected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7040880" y="2487168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6 checks</a:t>
            </a:r>
            <a:endParaRPr lang="en-US" sz="1300" dirty="0"/>
          </a:p>
        </p:txBody>
      </p:sp>
      <p:sp>
        <p:nvSpPr>
          <p:cNvPr id="16" name="Test row 3"/>
          <p:cNvSpPr/>
          <p:nvPr/>
        </p:nvSpPr>
        <p:spPr>
          <a:xfrm>
            <a:off x="640080" y="3328416"/>
            <a:ext cx="7498080" cy="841248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17" name="Icon circle"/>
          <p:cNvSpPr/>
          <p:nvPr/>
        </p:nvSpPr>
        <p:spPr>
          <a:xfrm>
            <a:off x="822960" y="3456432"/>
            <a:ext cx="585216" cy="585216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3"/>
            </a:solidFill>
            <a:prstDash val="solid"/>
          </a:ln>
        </p:spPr>
      </p:sp>
      <p:pic>
        <p:nvPicPr>
          <p:cNvPr id="18" name="Image 2" descr="Bullsey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360273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341985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Accuracy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3383280" y="341985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Memory, process count and host info compared with psutil read independently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7040880" y="3419856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3 checks</a:t>
            </a:r>
            <a:endParaRPr lang="en-US" sz="1300" dirty="0"/>
          </a:p>
        </p:txBody>
      </p:sp>
      <p:sp>
        <p:nvSpPr>
          <p:cNvPr id="22" name="Test row 4"/>
          <p:cNvSpPr/>
          <p:nvPr/>
        </p:nvSpPr>
        <p:spPr>
          <a:xfrm>
            <a:off x="640080" y="4261104"/>
            <a:ext cx="7498080" cy="841248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23" name="Icon circle"/>
          <p:cNvSpPr/>
          <p:nvPr/>
        </p:nvSpPr>
        <p:spPr>
          <a:xfrm>
            <a:off x="822960" y="4389120"/>
            <a:ext cx="585216" cy="585216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4"/>
            </a:solidFill>
            <a:prstDash val="solid"/>
          </a:ln>
        </p:spPr>
      </p:sp>
      <p:pic>
        <p:nvPicPr>
          <p:cNvPr id="24" name="Image 3" descr="Bol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535424"/>
            <a:ext cx="292608" cy="2926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600200" y="435254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Alerting</a:t>
            </a:r>
            <a:endParaRPr lang="en-US" sz="1700" dirty="0"/>
          </a:p>
        </p:txBody>
      </p:sp>
      <p:sp>
        <p:nvSpPr>
          <p:cNvPr id="26" name="Text 19"/>
          <p:cNvSpPr txBox="1"/>
          <p:nvPr/>
        </p:nvSpPr>
        <p:spPr>
          <a:xfrm>
            <a:off x="3383280" y="435254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Real CPU stress, real memory allocation, cooldown, recovery, DB persistence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7040880" y="4352544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7 checks</a:t>
            </a:r>
            <a:endParaRPr lang="en-US" sz="1300" dirty="0"/>
          </a:p>
        </p:txBody>
      </p:sp>
      <p:sp>
        <p:nvSpPr>
          <p:cNvPr id="28" name="Test row 5"/>
          <p:cNvSpPr/>
          <p:nvPr/>
        </p:nvSpPr>
        <p:spPr>
          <a:xfrm>
            <a:off x="640080" y="5193792"/>
            <a:ext cx="7498080" cy="841248"/>
          </a:xfrm>
          <a:prstGeom prst="roundRect">
            <a:avLst>
              <a:gd name="adj" fmla="val 13043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29" name="Icon circle"/>
          <p:cNvSpPr/>
          <p:nvPr/>
        </p:nvSpPr>
        <p:spPr>
          <a:xfrm>
            <a:off x="822960" y="5321808"/>
            <a:ext cx="585216" cy="585216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30" name="Image 4" descr="TachometerAl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5468112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600200" y="528523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Performance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3383280" y="528523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100 consecutive API calls timed, server CPU and RAM sampled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7040880" y="5285232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 checks</a:t>
            </a:r>
            <a:endParaRPr lang="en-US" sz="1300" dirty="0"/>
          </a:p>
        </p:txBody>
      </p:sp>
      <p:sp>
        <p:nvSpPr>
          <p:cNvPr id="34" name="Environment card"/>
          <p:cNvSpPr/>
          <p:nvPr/>
        </p:nvSpPr>
        <p:spPr>
          <a:xfrm>
            <a:off x="8503920" y="1463040"/>
            <a:ext cx="3063240" cy="4553712"/>
          </a:xfrm>
          <a:prstGeom prst="roundRect">
            <a:avLst>
              <a:gd name="adj" fmla="val 3582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877824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TEST BED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8778240" y="2057400"/>
            <a:ext cx="2560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bg2"/>
                </a:solidFill>
              </a:rPr>
              <a:t>Ubuntu 24.04 LTS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2 vCPU, 7.8 GB RAM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Python 3, Flask, psutil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Headless Chromium (Playwright)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Method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Black-box HTTP tests plus real CPU and memory load, then a full UI walk-through with screenshots.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measured performance</a:t>
            </a:r>
            <a:endParaRPr lang="en-US" sz="3600" dirty="0"/>
          </a:p>
        </p:txBody>
      </p:sp>
      <p:sp>
        <p:nvSpPr>
          <p:cNvPr id="4" name="Stat card 1"/>
          <p:cNvSpPr/>
          <p:nvPr/>
        </p:nvSpPr>
        <p:spPr>
          <a:xfrm>
            <a:off x="640080" y="146304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45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27/27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514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automated checks passed</a:t>
            </a:r>
            <a:endParaRPr lang="en-US" sz="1400" dirty="0"/>
          </a:p>
        </p:txBody>
      </p:sp>
      <p:sp>
        <p:nvSpPr>
          <p:cNvPr id="7" name="Stat card 2"/>
          <p:cNvSpPr/>
          <p:nvPr/>
        </p:nvSpPr>
        <p:spPr>
          <a:xfrm>
            <a:off x="3429000" y="146304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11880" y="1645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2.3 ms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3611880" y="2514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average API response (p95 2.9 ms)</a:t>
            </a:r>
            <a:endParaRPr lang="en-US" sz="1400" dirty="0"/>
          </a:p>
        </p:txBody>
      </p:sp>
      <p:sp>
        <p:nvSpPr>
          <p:cNvPr id="10" name="Stat card 3"/>
          <p:cNvSpPr/>
          <p:nvPr/>
        </p:nvSpPr>
        <p:spPr>
          <a:xfrm>
            <a:off x="6217920" y="146304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645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3.6 s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514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CPU overload to alert, 100% load</a:t>
            </a:r>
            <a:endParaRPr lang="en-US" sz="1400" dirty="0"/>
          </a:p>
        </p:txBody>
      </p:sp>
      <p:sp>
        <p:nvSpPr>
          <p:cNvPr id="13" name="Stat card 4"/>
          <p:cNvSpPr/>
          <p:nvPr/>
        </p:nvSpPr>
        <p:spPr>
          <a:xfrm>
            <a:off x="9006840" y="1463040"/>
            <a:ext cx="2606040" cy="19202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89720" y="16459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2.5 s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9189720" y="2514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memory breach to alert</a:t>
            </a:r>
            <a:endParaRPr lang="en-US" sz="14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40080" y="3611880"/>
          <a:ext cx="56692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6675120" y="3657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Footprint of the monitor itself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6675120" y="406908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0.2% CPU while sampling every 2 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38 MB of RAM for the whole server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All alerts persisted to the DB and cleared on recovery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Memory and process counts matched psutil exactly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live system view</a:t>
            </a:r>
            <a:endParaRPr lang="en-US" sz="3600" dirty="0"/>
          </a:p>
        </p:txBody>
      </p:sp>
      <p:pic>
        <p:nvPicPr>
          <p:cNvPr id="4" name="Image 0" descr="Dashboard during an active CPU ale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5486400" cy="30861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pic>
        <p:nvPicPr>
          <p:cNvPr id="5" name="Image 1" descr="CPU history chart showing a load spike and per-core us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486400" cy="308610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6" name="Text 1"/>
          <p:cNvSpPr txBox="1"/>
          <p:nvPr/>
        </p:nvSpPr>
        <p:spPr>
          <a:xfrm>
            <a:off x="64008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Alert banner and 3D scene react at once</a:t>
            </a:r>
            <a:endParaRPr lang="en-US" sz="1500" dirty="0"/>
          </a:p>
        </p:txBody>
      </p:sp>
      <p:sp>
        <p:nvSpPr>
          <p:cNvPr id="7" name="Text 2"/>
          <p:cNvSpPr txBox="1"/>
          <p:nvPr/>
        </p:nvSpPr>
        <p:spPr>
          <a:xfrm>
            <a:off x="640080" y="49377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Gauges turn amber past the limit, the banner names the metric, value and threshold, and the core glows with load.</a:t>
            </a:r>
            <a:endParaRPr lang="en-US" sz="1400" dirty="0"/>
          </a:p>
        </p:txBody>
      </p:sp>
      <p:sp>
        <p:nvSpPr>
          <p:cNvPr id="8" name="Text 3"/>
          <p:cNvSpPr txBox="1"/>
          <p:nvPr/>
        </p:nvSpPr>
        <p:spPr>
          <a:xfrm>
            <a:off x="630936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History, per-core load and load average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6309360" y="49377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spike from our stress test is visible, both cores hit 88 to 91 percent, and alerts fell back after the load stopped.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3600" dirty="0"/>
          </a:p>
        </p:txBody>
      </p:sp>
      <p:sp>
        <p:nvSpPr>
          <p:cNvPr id="4" name="Impact card 1"/>
          <p:cNvSpPr/>
          <p:nvPr/>
        </p:nvSpPr>
        <p:spPr>
          <a:xfrm>
            <a:off x="640080" y="1508760"/>
            <a:ext cx="5349240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960120" y="1828800"/>
            <a:ext cx="868680" cy="86868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6" name="Image 0" descr="Clo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290" y="2045970"/>
            <a:ext cx="434340" cy="4343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14884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From reactive to proactive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2148840" y="233172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Problems are flagged within seconds of crossing a limit, before users notice slowdowns or crashes.</a:t>
            </a:r>
            <a:endParaRPr lang="en-US" sz="1400" dirty="0"/>
          </a:p>
        </p:txBody>
      </p:sp>
      <p:sp>
        <p:nvSpPr>
          <p:cNvPr id="9" name="Impact card 2"/>
          <p:cNvSpPr/>
          <p:nvPr/>
        </p:nvSpPr>
        <p:spPr>
          <a:xfrm>
            <a:off x="6172200" y="1508760"/>
            <a:ext cx="5349240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6492240" y="1828800"/>
            <a:ext cx="868680" cy="86868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11" name="Image 1" descr="Glob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410" y="2045970"/>
            <a:ext cx="434340" cy="4343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68096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One tool, any machine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7680960" y="233172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same code reports the real hardware and OS of whichever Windows, macOS or Linux host it runs on.</a:t>
            </a:r>
            <a:endParaRPr lang="en-US" sz="1400" dirty="0"/>
          </a:p>
        </p:txBody>
      </p:sp>
      <p:sp>
        <p:nvSpPr>
          <p:cNvPr id="14" name="Impact card 3"/>
          <p:cNvSpPr/>
          <p:nvPr/>
        </p:nvSpPr>
        <p:spPr>
          <a:xfrm>
            <a:off x="640080" y="3794760"/>
            <a:ext cx="5349240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960120" y="4114800"/>
            <a:ext cx="868680" cy="86868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3"/>
            </a:solidFill>
            <a:prstDash val="solid"/>
          </a:ln>
        </p:spPr>
      </p:sp>
      <p:pic>
        <p:nvPicPr>
          <p:cNvPr id="16" name="Image 2" descr="Leaf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290" y="4331970"/>
            <a:ext cx="434340" cy="4343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148840" y="4114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Light and low-cost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2148840" y="461772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0.2% CPU and 38 MB of RAM. No agents, cloud account or licence: pip install and run.</a:t>
            </a:r>
            <a:endParaRPr lang="en-US" sz="1400" dirty="0"/>
          </a:p>
        </p:txBody>
      </p:sp>
      <p:sp>
        <p:nvSpPr>
          <p:cNvPr id="19" name="Impact card 4"/>
          <p:cNvSpPr/>
          <p:nvPr/>
        </p:nvSpPr>
        <p:spPr>
          <a:xfrm>
            <a:off x="6172200" y="3794760"/>
            <a:ext cx="5349240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6492240" y="4114800"/>
            <a:ext cx="868680" cy="86868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4"/>
            </a:solidFill>
            <a:prstDash val="solid"/>
          </a:ln>
        </p:spPr>
      </p:sp>
      <p:pic>
        <p:nvPicPr>
          <p:cNvPr id="21" name="Image 3" descr="GraduationCap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410" y="4331970"/>
            <a:ext cx="434340" cy="4343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680960" y="4114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Clear and engaging</a:t>
            </a:r>
            <a:endParaRPr lang="en-US" sz="2000" dirty="0"/>
          </a:p>
        </p:txBody>
      </p:sp>
      <p:sp>
        <p:nvSpPr>
          <p:cNvPr id="23" name="Text 16"/>
          <p:cNvSpPr txBox="1"/>
          <p:nvPr/>
        </p:nvSpPr>
        <p:spPr>
          <a:xfrm>
            <a:off x="7680960" y="461772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3D view makes system health intuitive, which helps students and non-experts understand resources.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Fits labs, small servers, home PCs and classrooms where a full monitoring suite is overkill.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and future scope</a:t>
            </a:r>
            <a:endParaRPr lang="en-US" sz="3600" dirty="0"/>
          </a:p>
        </p:txBody>
      </p:sp>
      <p:sp>
        <p:nvSpPr>
          <p:cNvPr id="4" name="Conclusion card"/>
          <p:cNvSpPr/>
          <p:nvPr/>
        </p:nvSpPr>
        <p:spPr>
          <a:xfrm>
            <a:off x="640080" y="1463040"/>
            <a:ext cx="5349240" cy="4572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WHAT WE DELIVERED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10312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Live monitoring of CPU, memory, disk and processes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Threshold alerts with severity, cooldown and recovery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Login with accounts stored in the host database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Interface that adapts to the host and shows real 3D health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27 of 27 tests passed, alerts in under 4 seconds</a:t>
            </a:r>
            <a:endParaRPr lang="en-US" sz="1800" dirty="0"/>
          </a:p>
        </p:txBody>
      </p:sp>
      <p:sp>
        <p:nvSpPr>
          <p:cNvPr id="7" name="Future scope card"/>
          <p:cNvSpPr/>
          <p:nvPr/>
        </p:nvSpPr>
        <p:spPr>
          <a:xfrm>
            <a:off x="6172200" y="1463040"/>
            <a:ext cx="5349240" cy="4572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 w="9525">
            <a:solidFill>
              <a:schemeClr val="accent6">
                <a:alpha val="35000"/>
              </a:scheme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4652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4"/>
                </a:solidFill>
              </a:rPr>
              <a:t>WHAT COMES NEXT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210312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Email, SMS and Telegram alert delivery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Monitor many machines from one dashboard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Predict trends, such as when a disk will fill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HTTPS, production server and role-based access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Verify on Windows and macOS hosts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Docker image for one-command install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6002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2926080"/>
            <a:ext cx="6035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Questions and live demo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7548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2520090024  S. Raghuram Reddy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2520090045  M. Prem Manikanta Reddy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2520090025  D. Nikhil Krishna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52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Faculty guide: D Alekhya</a:t>
            </a:r>
            <a:endParaRPr lang="en-US" sz="1500" dirty="0"/>
          </a:p>
        </p:txBody>
      </p:sp>
      <p:pic>
        <p:nvPicPr>
          <p:cNvPr id="6" name="Image 0" descr="SysWatch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828800"/>
            <a:ext cx="4754880" cy="2674620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00000">
                <a:alpha val="50000"/>
              </a:srgbClr>
            </a:outerShdw>
          </a:effectLst>
        </p:spPr>
      </p:pic>
      <p:sp>
        <p:nvSpPr>
          <p:cNvPr id="7" name="Icon circle"/>
          <p:cNvSpPr/>
          <p:nvPr/>
        </p:nvSpPr>
        <p:spPr>
          <a:xfrm>
            <a:off x="9144000" y="4846320"/>
            <a:ext cx="914400" cy="914400"/>
          </a:xfrm>
          <a:prstGeom prst="ellipse">
            <a:avLst/>
          </a:prstGeom>
          <a:solidFill>
            <a:schemeClr val="tx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8" name="Image 1" descr="Ey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50749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ysWatch Dark">
  <a:themeElements>
    <a:clrScheme name="SysWatch Dark">
      <a:dk1>
        <a:srgbClr val="0A1020"/>
      </a:dk1>
      <a:lt1>
        <a:srgbClr val="FFFFFF"/>
      </a:lt1>
      <a:dk2>
        <a:srgbClr val="16223F"/>
      </a:dk2>
      <a:lt2>
        <a:srgbClr val="A9B8D2"/>
      </a:lt2>
      <a:accent1>
        <a:srgbClr val="35E0FF"/>
      </a:accent1>
      <a:accent2>
        <a:srgbClr val="B18CFF"/>
      </a:accent2>
      <a:accent3>
        <a:srgbClr val="3DF0A8"/>
      </a:accent3>
      <a:accent4>
        <a:srgbClr val="FFC547"/>
      </a:accent4>
      <a:accent5>
        <a:srgbClr val="FF4D6A"/>
      </a:accent5>
      <a:accent6>
        <a:srgbClr val="6D8BFF"/>
      </a:accent6>
      <a:hlink>
        <a:srgbClr val="35E0FF"/>
      </a:hlink>
      <a:folHlink>
        <a:srgbClr val="B18CFF"/>
      </a:folHlink>
    </a:clrScheme>
    <a:fontScheme name="SysWatch Dar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SysWatch - System Resource Alert &amp; Notification System</dc:title>
  <dc:subject>PptxGenJS Presentation</dc:subject>
  <dc:creator>S. Raghuram Reddy, M. Prem Manikanta Reddy, D. Nikhil Krishna</dc:creator>
  <cp:lastModifiedBy>S. Raghuram Reddy, M. Prem Manikanta Reddy, D. Nikhil Krishna</cp:lastModifiedBy>
  <cp:revision>1</cp:revision>
  <dcterms:created xsi:type="dcterms:W3CDTF">2026-10-17T04:15:39Z</dcterms:created>
  <dcterms:modified xsi:type="dcterms:W3CDTF">2026-10-17T04:15:39Z</dcterms:modified>
</cp:coreProperties>
</file>